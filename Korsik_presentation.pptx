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dbcee14a-e62b-6190-8062-75631b1242ac}">
          <p14:sldIdLst>
            <p14:sldId id="256"/>
          </p14:sldIdLst>
        </p14:section>
        <p14:section name="Решение" id="{6a2f2ba6-ffee-b17e-34ee-d5380ab0929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Итог" id="{c9627d39-8d12-3749-c3a0-64a334d263e6}">
          <p14:sldIdLst>
            <p14:sldId id="263"/>
          </p14:sldIdLst>
        </p14:section>
        <p14:section name="Финал" id="{9e5f1117-ee0f-2bee-51af-e8d182dd169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1170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A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Красные флаги</c:v>
                  </c:pt>
                  <c:pt idx="1">
                    <c:v>Низкие оценки в опросах</c:v>
                  </c:pt>
                  <c:pt idx="2">
                    <c:v>Упоминание увольнения</c:v>
                  </c:pt>
                  <c:pt idx="3">
                    <c:v>Негативная тональность</c:v>
                  </c:pt>
                  <c:pt idx="4">
                    <c:v>Открытые обращения</c:v>
                  </c:pt>
                  <c:pt idx="5">
                    <c:v>Молчание &gt; 5 дней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34</c:v>
                </c:pt>
                <c:pt idx="2">
                  <c:v>30</c:v>
                </c:pt>
                <c:pt idx="3">
                  <c:v>25</c:v>
                </c:pt>
                <c:pt idx="4">
                  <c:v>20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A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A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Здравствуйте! Мы представляем «Корсика» — ИИ-ассистента, который ведёт новых сотрудников ПОЛИПЛАСТИК через адаптацию прямо в мессенджере МАКС.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[0:10–0:30] Прежний бот жил в Telegram, который нельзя использовать в корпоративном контуре, и работал на жёстких кнопках: не понимал вопросов и эмоций. Из-за этого HR тратят до 40% времени на разбор ответов, нет предиктивной аналитики, а для каждой новой площадки нужны разработчики. Мы перенесли Корсика в МАКС с сохранением проактивных рассылок и добавили RAG по регламентам, анализ настроений и бесшовную передачу живому 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[0:30–0:45] Это работающий прототип: шесть сервисов в Docker. Бот подключён к МАКС, планировщик ведёт сотрудника по 21 этапу сценария из ТЗ. Регламенты проходят OCR и попадают в векторную базу, все данные — в PostgreSQL. Модель подключена через шлюз — провайдера можно сменить настройкой, в том числе на собственный сервер. 340 автотестов на настоящей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[0:45–1:10] Что видит новичок: сообщения по таймлайну — от знакомства до конца испытательного срока, с учётом площадки и «ты/вы». И он может спросить своими словами: агент отвечает только по найденным фрагментам регламентов и называет источник. Если ответа нет — Корсик ничего не пишет в чат, а вопрос сразу попадает HR прямо в МАКС: сообщение с кнопками «Ответить», «Взять в работу», «Закрыть». HR отвечает оттуда же, ответ приходит сотруднику в тот же чат, и пока HR на связи, бот не вмешивается, а пересылает сообщения сотрудника HR. Если вопрос про конфликт или зарплату — отвечает и тоже сразу передаёт 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[1:10–1:30] Это по рекомендации представителя компании на чек-поинте: светофор по каждому новичку. Красный — нужна реакция: высокий риск ухода или сбой доставки. Жёлтый — внимание: средний риск, пропущенные этапы, вопрос без ответа больше суток. Зелёный — всё по плану. Серый — сотрудник ещё не подключён к боту. Нажали на цвет — увидели только этих людей, нажали на строку — открыли диалог. Руководитель подразделения видит такой светофор только по своим подчинённым.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[1:30–1:50] Светофор опирается на индекс риска ухода от 0 до 100. Он складывается из красных флагов, упоминания увольнения, низких оценок в опросах, негатива, открытых обращений и молчания. HR видит зону риска заранее, а не после увольнения. Руководитель по подбору получает еженедельный дайджест, где нейросеть группирует ответы в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[1:50–2:10] Что здесь нового. Светофор адаптации по каждому сотруднику; бесшовная эскалация без кнопок и подтверждений; индекс риска ухода; кластеризация настроений; голос бренда; no-code для HR; независимость от провайдера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[2:10–2:40] Внедрение: поднять стек одной командой, регламенты подгружаются автоматически, новичков привязываем по ссылке или QR из оффера. Новая площадка или этап — в панели, без разработчиков. Целевой эффект из кейса — до 70% снижения рутины HR; на реальных данных мы его ещё не измеряли, но автоматизируем именно эти операции. Среди типовых подходов — кнопочного бота, портала и общего ИИ-чата — только Корсик сочетает проактивный онбординг, ответы по регламентам и аналитику настроений.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[2:40–3:00] Корсик берёт на себя рутину, а HR остаётся с людьми. Спасибо! Готовы ответить на вопросы.
--- ЕСЛИ СПРОСЯТ ---
• Галлюцинации: порог релевантности поиска 0,5; факты — только из найденных фрагментов; нет ответа — в чат ничего, вопрос сразу уходит HR (бесшовная эскалация); кадровые и юридические вопросы — ответ и мгновенная передача HR. Технический сбой — не «не знаю»: бот пишет о неполадках, обращение не создаётся.
• Бот молчит — не страшно? HR получает вопрос в МАКС сразу, отвечает кнопкой в том же мессенджере; если HR молчит 12 часов или обращение закрыто, бот возвращается к ответам; опционально можно включить нейтральное «Передал вопрос коллегам».
• Светофор: красный — высокий риск (индекс 50+) или сбой доставки; жёлтый — средний риск (25–49), пропуск этапа, этап ждёт отправки, вопрос без ответа больше суток, не привязан к боту перед выходом; зелёный — по плану; серый — ещё не подключён.
• Красные флаги: сообщение с красным флагом автоматически создаёт обращение для HR (по требованию кейса); остальные обращения тоже создаются автоматически, без кнопок.
• Данные и безопасность: модель подключается через шлюз — можно развернуть свою (любой OpenAI-совместимый endpoint); роли в панели, пароли — scrypt; руководитель видит только своих подчинённых; интерфейс проверен на XSS, вебхук принимает события только с секретом, контейнеры не от root.
• Скорость: ответ модели с рассуждением 10–40 с — известное ограничение, лечится выбором модели. Дашборд быстрый: светофор на 1000 новичков считается за ~0,2 с.
• Стоимость: шлюз считает токены по дням и моделям; при заданных ценах панель показывает стоимость и долю вопросов, закрытых без HR.
• Качество поиска: есть оценочный набор из 29 вопросов (scripts/eval_rag.py): показывает долю верных ответов и подбирает порог релевантности; прогоняется на рабочем стеке.
• Надёжность: события МАКС пишутся до обработки, отправка повторяется, прерванные перезапуском события доводятся; повторные обращения склеиваются.
• Продакшен: для МАКС нужен webhook на HTTPS:443; сейчас long polling; в панели Basic-auth, для продакшена — SSO.
• Масштаб: площадки добавляются в панели («как у существующей»).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Корсик · ПОЛИПЛАСТИК · Открой Моспром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64008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ХАКАТОН «ОТКРОЙ МОСПРОМ» 2026 · КЕЙС ПОЛИПЛАСТИК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554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Корсик</a:t>
            </a:r>
            <a:endParaRPr lang="en-US" sz="80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9260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ИИ-ассистент для адаптации новых сотрудников в мессенджере МАКС</a:t>
            </a:r>
            <a:endParaRPr lang="en-US" sz="2600" dirty="0"/>
          </a:p>
        </p:txBody>
      </p:sp>
      <p:sp>
        <p:nvSpPr>
          <p:cNvPr id="5" name="Chip RAG по регламентам"/>
          <p:cNvSpPr/>
          <p:nvPr/>
        </p:nvSpPr>
        <p:spPr>
          <a:xfrm>
            <a:off x="640080" y="4709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B2B40"/>
          </a:solidFill>
          <a:ln w="19050">
            <a:solidFill>
              <a:srgbClr val="A4C61A"/>
            </a:solidFill>
            <a:prstDash val="solid"/>
          </a:ln>
        </p:spPr>
      </p:sp>
      <p:sp>
        <p:nvSpPr>
          <p:cNvPr id="6" name="Chip text RAG по регламентам"/>
          <p:cNvSpPr txBox="1"/>
          <p:nvPr/>
        </p:nvSpPr>
        <p:spPr>
          <a:xfrm>
            <a:off x="640080" y="4709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RAG по регламентам</a:t>
            </a:r>
            <a:endParaRPr lang="en-US" sz="1400" dirty="0"/>
          </a:p>
        </p:txBody>
      </p:sp>
      <p:sp>
        <p:nvSpPr>
          <p:cNvPr id="7" name="Chip Анализ настроений"/>
          <p:cNvSpPr/>
          <p:nvPr/>
        </p:nvSpPr>
        <p:spPr>
          <a:xfrm>
            <a:off x="2971800" y="47091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B2B40"/>
          </a:solidFill>
          <a:ln w="19050">
            <a:solidFill>
              <a:srgbClr val="A4C61A"/>
            </a:solidFill>
            <a:prstDash val="solid"/>
          </a:ln>
        </p:spPr>
      </p:sp>
      <p:sp>
        <p:nvSpPr>
          <p:cNvPr id="8" name="Chip text Анализ настроений"/>
          <p:cNvSpPr txBox="1"/>
          <p:nvPr/>
        </p:nvSpPr>
        <p:spPr>
          <a:xfrm>
            <a:off x="297180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Анализ настроений</a:t>
            </a:r>
            <a:endParaRPr lang="en-US" sz="1400" dirty="0"/>
          </a:p>
        </p:txBody>
      </p:sp>
      <p:sp>
        <p:nvSpPr>
          <p:cNvPr id="9" name="Chip Эскалация к HR"/>
          <p:cNvSpPr/>
          <p:nvPr/>
        </p:nvSpPr>
        <p:spPr>
          <a:xfrm>
            <a:off x="516636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B2B40"/>
          </a:solidFill>
          <a:ln w="19050">
            <a:solidFill>
              <a:srgbClr val="A4C61A"/>
            </a:solidFill>
            <a:prstDash val="solid"/>
          </a:ln>
        </p:spPr>
      </p:sp>
      <p:sp>
        <p:nvSpPr>
          <p:cNvPr id="10" name="Chip text Эскалация к HR"/>
          <p:cNvSpPr txBox="1"/>
          <p:nvPr/>
        </p:nvSpPr>
        <p:spPr>
          <a:xfrm>
            <a:off x="516636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Эскалация к HR</a:t>
            </a:r>
            <a:endParaRPr lang="en-US" sz="1400" dirty="0"/>
          </a:p>
        </p:txBody>
      </p:sp>
      <p:pic>
        <p:nvPicPr>
          <p:cNvPr id="11" name="Korsik hello" descr="Корсик — дружелюбный робот-помощник с логотипом ПОЛИПЛАСТИ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77240"/>
            <a:ext cx="46634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Проблема → решение</a:t>
            </a:r>
            <a:endParaRPr lang="en-US" sz="3600" dirty="0"/>
          </a:p>
        </p:txBody>
      </p:sp>
      <p:sp>
        <p:nvSpPr>
          <p:cNvPr id="3" name="Main problem card"/>
          <p:cNvSpPr/>
          <p:nvPr/>
        </p:nvSpPr>
        <p:spPr>
          <a:xfrm>
            <a:off x="548640" y="137160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" name="Main problem label"/>
          <p:cNvSpPr txBox="1"/>
          <p:nvPr/>
        </p:nvSpPr>
        <p:spPr>
          <a:xfrm>
            <a:off x="82296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ОСНОВНАЯ ПРОБЛЕМА</a:t>
            </a:r>
            <a:endParaRPr lang="en-US" sz="1200" dirty="0"/>
          </a:p>
        </p:txBody>
      </p:sp>
      <p:sp>
        <p:nvSpPr>
          <p:cNvPr id="5" name="Main problem text"/>
          <p:cNvSpPr txBox="1"/>
          <p:nvPr/>
        </p:nvSpPr>
        <p:spPr>
          <a:xfrm>
            <a:off x="82296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Telegram нельзя использовать в корпоративном контуре, а бот на кнопках не понимает вопросы и эмоции людей</a:t>
            </a:r>
            <a:endParaRPr lang="en-US" sz="1600" dirty="0"/>
          </a:p>
        </p:txBody>
      </p:sp>
      <p:sp>
        <p:nvSpPr>
          <p:cNvPr id="6" name="Main solution card"/>
          <p:cNvSpPr/>
          <p:nvPr/>
        </p:nvSpPr>
        <p:spPr>
          <a:xfrm>
            <a:off x="6172200" y="137160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7" name="Main solution label"/>
          <p:cNvSpPr txBox="1"/>
          <p:nvPr/>
        </p:nvSpPr>
        <p:spPr>
          <a:xfrm>
            <a:off x="644652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РЕШЕНИЕ</a:t>
            </a:r>
            <a:endParaRPr lang="en-US" sz="1200" dirty="0"/>
          </a:p>
        </p:txBody>
      </p:sp>
      <p:sp>
        <p:nvSpPr>
          <p:cNvPr id="8" name="Main solution text"/>
          <p:cNvSpPr txBox="1"/>
          <p:nvPr/>
        </p:nvSpPr>
        <p:spPr>
          <a:xfrm>
            <a:off x="644652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Корсик в МАКС: проактивный таймлайн + RAG по регламентам + анализ настроений на одной платформе</a:t>
            </a:r>
            <a:endParaRPr lang="en-US" sz="1600" dirty="0"/>
          </a:p>
        </p:txBody>
      </p:sp>
      <p:sp>
        <p:nvSpPr>
          <p:cNvPr id="9" name="Secondary card 1"/>
          <p:cNvSpPr/>
          <p:nvPr/>
        </p:nvSpPr>
        <p:spPr>
          <a:xfrm>
            <a:off x="548640" y="310896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0" name="Icon HR тратят до 40% времени circle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11" name="Icon HR тратят до 40% времени icon" descr="Icon HR тратят до 40% времен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3549701"/>
            <a:ext cx="307238" cy="307238"/>
          </a:xfrm>
          <a:prstGeom prst="rect">
            <a:avLst/>
          </a:prstGeom>
        </p:spPr>
      </p:pic>
      <p:sp>
        <p:nvSpPr>
          <p:cNvPr id="12" name="Problem 1"/>
          <p:cNvSpPr txBox="1"/>
          <p:nvPr/>
        </p:nvSpPr>
        <p:spPr>
          <a:xfrm>
            <a:off x="82296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HR тратят до 40% времени</a:t>
            </a:r>
            <a:endParaRPr lang="en-US" sz="1800" dirty="0"/>
          </a:p>
        </p:txBody>
      </p:sp>
      <p:sp>
        <p:nvSpPr>
          <p:cNvPr id="13" name="Problem detail 1"/>
          <p:cNvSpPr txBox="1"/>
          <p:nvPr/>
        </p:nvSpPr>
        <p:spPr>
          <a:xfrm>
            <a:off x="82296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на разбор текстовых ответов и типовые вопросы</a:t>
            </a:r>
            <a:endParaRPr lang="en-US" sz="1400" dirty="0"/>
          </a:p>
        </p:txBody>
      </p:sp>
      <p:sp>
        <p:nvSpPr>
          <p:cNvPr id="14" name="Solution 1"/>
          <p:cNvSpPr txBox="1"/>
          <p:nvPr/>
        </p:nvSpPr>
        <p:spPr>
          <a:xfrm>
            <a:off x="82296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отвечает сам, а HR подключается только к нестандартным случаям</a:t>
            </a:r>
            <a:endParaRPr lang="en-US" sz="1400" dirty="0"/>
          </a:p>
        </p:txBody>
      </p:sp>
      <p:sp>
        <p:nvSpPr>
          <p:cNvPr id="15" name="Secondary card 2"/>
          <p:cNvSpPr/>
          <p:nvPr/>
        </p:nvSpPr>
        <p:spPr>
          <a:xfrm>
            <a:off x="4343400" y="310896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6" name="Icon Нет предиктивной аналитики circle"/>
          <p:cNvSpPr/>
          <p:nvPr/>
        </p:nvSpPr>
        <p:spPr>
          <a:xfrm>
            <a:off x="4617720" y="3383280"/>
            <a:ext cx="640080" cy="64008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17" name="Icon Нет предиктивной аналитики icon" descr="Icon Нет предиктивной аналитик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3549701"/>
            <a:ext cx="307238" cy="307238"/>
          </a:xfrm>
          <a:prstGeom prst="rect">
            <a:avLst/>
          </a:prstGeom>
        </p:spPr>
      </p:pic>
      <p:sp>
        <p:nvSpPr>
          <p:cNvPr id="18" name="Problem 2"/>
          <p:cNvSpPr txBox="1"/>
          <p:nvPr/>
        </p:nvSpPr>
        <p:spPr>
          <a:xfrm>
            <a:off x="461772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Нет предиктивной аналитики</a:t>
            </a:r>
            <a:endParaRPr lang="en-US" sz="1800" dirty="0"/>
          </a:p>
        </p:txBody>
      </p:sp>
      <p:sp>
        <p:nvSpPr>
          <p:cNvPr id="19" name="Problem detail 2"/>
          <p:cNvSpPr txBox="1"/>
          <p:nvPr/>
        </p:nvSpPr>
        <p:spPr>
          <a:xfrm>
            <a:off x="4617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бот фиксирует только свершившиеся факты</a:t>
            </a:r>
            <a:endParaRPr lang="en-US" sz="1400" dirty="0"/>
          </a:p>
        </p:txBody>
      </p:sp>
      <p:sp>
        <p:nvSpPr>
          <p:cNvPr id="20" name="Solution 2"/>
          <p:cNvSpPr txBox="1"/>
          <p:nvPr/>
        </p:nvSpPr>
        <p:spPr>
          <a:xfrm>
            <a:off x="461772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Светофор по каждому новичку и индекс риска 0–100: проблема видна заранее</a:t>
            </a:r>
            <a:endParaRPr lang="en-US" sz="1400" dirty="0"/>
          </a:p>
        </p:txBody>
      </p:sp>
      <p:sp>
        <p:nvSpPr>
          <p:cNvPr id="21" name="Secondary card 3"/>
          <p:cNvSpPr/>
          <p:nvPr/>
        </p:nvSpPr>
        <p:spPr>
          <a:xfrm>
            <a:off x="8138160" y="310896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2" name="Icon Масштабирование — через разработчиков circle"/>
          <p:cNvSpPr/>
          <p:nvPr/>
        </p:nvSpPr>
        <p:spPr>
          <a:xfrm>
            <a:off x="8412480" y="3383280"/>
            <a:ext cx="640080" cy="64008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23" name="Icon Масштабирование — через разработчиков icon" descr="Icon Масштабирование — через разработчико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3549701"/>
            <a:ext cx="307238" cy="307238"/>
          </a:xfrm>
          <a:prstGeom prst="rect">
            <a:avLst/>
          </a:prstGeom>
        </p:spPr>
      </p:pic>
      <p:sp>
        <p:nvSpPr>
          <p:cNvPr id="24" name="Problem 3"/>
          <p:cNvSpPr txBox="1"/>
          <p:nvPr/>
        </p:nvSpPr>
        <p:spPr>
          <a:xfrm>
            <a:off x="841248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Масштабирование — через разработчиков</a:t>
            </a:r>
            <a:endParaRPr lang="en-US" sz="1800" dirty="0"/>
          </a:p>
        </p:txBody>
      </p:sp>
      <p:sp>
        <p:nvSpPr>
          <p:cNvPr id="25" name="Problem detail 3"/>
          <p:cNvSpPr txBox="1"/>
          <p:nvPr/>
        </p:nvSpPr>
        <p:spPr>
          <a:xfrm>
            <a:off x="841248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каждый филиал и новый регламент</a:t>
            </a:r>
            <a:endParaRPr lang="en-US" sz="1400" dirty="0"/>
          </a:p>
        </p:txBody>
      </p:sp>
      <p:sp>
        <p:nvSpPr>
          <p:cNvPr id="26" name="Solution 3"/>
          <p:cNvSpPr txBox="1"/>
          <p:nvPr/>
        </p:nvSpPr>
        <p:spPr>
          <a:xfrm>
            <a:off x="841248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 сам грузит PDF, правит сценарий, добавляет площадки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Прототип работает: архитектура</a:t>
            </a:r>
            <a:endParaRPr lang="en-US" sz="3600" dirty="0"/>
          </a:p>
        </p:txBody>
      </p:sp>
      <p:sp>
        <p:nvSpPr>
          <p:cNvPr id="3" name="Lane Каналы"/>
          <p:cNvSpPr txBox="1"/>
          <p:nvPr/>
        </p:nvSpPr>
        <p:spPr>
          <a:xfrm>
            <a:off x="548640" y="13716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КАНАЛЫ</a:t>
            </a:r>
            <a:endParaRPr lang="en-US" sz="1200" dirty="0"/>
          </a:p>
        </p:txBody>
      </p:sp>
      <p:sp>
        <p:nvSpPr>
          <p:cNvPr id="4" name="Box Новичок в МАКС"/>
          <p:cNvSpPr/>
          <p:nvPr/>
        </p:nvSpPr>
        <p:spPr>
          <a:xfrm>
            <a:off x="1828800" y="13716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5" name="Новичок в МАКС circle"/>
          <p:cNvSpPr/>
          <p:nvPr/>
        </p:nvSpPr>
        <p:spPr>
          <a:xfrm>
            <a:off x="2011680" y="1554480"/>
            <a:ext cx="548640" cy="54864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6" name="Новичок в МАКС icon" descr="Новичок в МАК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326" y="1697126"/>
            <a:ext cx="263347" cy="263347"/>
          </a:xfrm>
          <a:prstGeom prst="rect">
            <a:avLst/>
          </a:prstGeom>
        </p:spPr>
      </p:pic>
      <p:sp>
        <p:nvSpPr>
          <p:cNvPr id="7" name="Box title Новичок в МАКС"/>
          <p:cNvSpPr txBox="1"/>
          <p:nvPr/>
        </p:nvSpPr>
        <p:spPr>
          <a:xfrm>
            <a:off x="2697480" y="1554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Новичок в МАКС</a:t>
            </a:r>
            <a:endParaRPr lang="en-US" sz="1600" dirty="0"/>
          </a:p>
        </p:txBody>
      </p:sp>
      <p:sp>
        <p:nvSpPr>
          <p:cNvPr id="8" name="Box desc Новичок в МАКС"/>
          <p:cNvSpPr txBox="1"/>
          <p:nvPr/>
        </p:nvSpPr>
        <p:spPr>
          <a:xfrm>
            <a:off x="201168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бот: long polling / webhook</a:t>
            </a:r>
            <a:endParaRPr lang="en-US" sz="1400" dirty="0"/>
          </a:p>
        </p:txBody>
      </p:sp>
      <p:sp>
        <p:nvSpPr>
          <p:cNvPr id="9" name="Box Панель HR"/>
          <p:cNvSpPr/>
          <p:nvPr/>
        </p:nvSpPr>
        <p:spPr>
          <a:xfrm>
            <a:off x="5074920" y="13716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0" name="Панель HR circle"/>
          <p:cNvSpPr/>
          <p:nvPr/>
        </p:nvSpPr>
        <p:spPr>
          <a:xfrm>
            <a:off x="5257800" y="1554480"/>
            <a:ext cx="548640" cy="54864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11" name="Панель HR icon" descr="Панель H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446" y="1697126"/>
            <a:ext cx="263347" cy="263347"/>
          </a:xfrm>
          <a:prstGeom prst="rect">
            <a:avLst/>
          </a:prstGeom>
        </p:spPr>
      </p:pic>
      <p:sp>
        <p:nvSpPr>
          <p:cNvPr id="12" name="Box title Панель HR"/>
          <p:cNvSpPr txBox="1"/>
          <p:nvPr/>
        </p:nvSpPr>
        <p:spPr>
          <a:xfrm>
            <a:off x="5943600" y="1554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Панель HR</a:t>
            </a:r>
            <a:endParaRPr lang="en-US" sz="1600" dirty="0"/>
          </a:p>
        </p:txBody>
      </p:sp>
      <p:sp>
        <p:nvSpPr>
          <p:cNvPr id="13" name="Box desc Панель HR"/>
          <p:cNvSpPr txBox="1"/>
          <p:nvPr/>
        </p:nvSpPr>
        <p:spPr>
          <a:xfrm>
            <a:off x="525780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документы · сценарий · аналитика · роли</a:t>
            </a:r>
            <a:endParaRPr lang="en-US" sz="1400" dirty="0"/>
          </a:p>
        </p:txBody>
      </p:sp>
      <p:sp>
        <p:nvSpPr>
          <p:cNvPr id="14" name="Lane Логика"/>
          <p:cNvSpPr txBox="1"/>
          <p:nvPr/>
        </p:nvSpPr>
        <p:spPr>
          <a:xfrm>
            <a:off x="548640" y="29718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ЛОГИКА</a:t>
            </a:r>
            <a:endParaRPr lang="en-US" sz="1200" dirty="0"/>
          </a:p>
        </p:txBody>
      </p:sp>
      <p:sp>
        <p:nvSpPr>
          <p:cNvPr id="15" name="Box pipeline"/>
          <p:cNvSpPr/>
          <p:nvPr/>
        </p:nvSpPr>
        <p:spPr>
          <a:xfrm>
            <a:off x="1828800" y="29718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6" name="pipeline circle"/>
          <p:cNvSpPr/>
          <p:nvPr/>
        </p:nvSpPr>
        <p:spPr>
          <a:xfrm>
            <a:off x="2011680" y="31546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pipeline icon" descr="pipe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26" y="3297326"/>
            <a:ext cx="263347" cy="263347"/>
          </a:xfrm>
          <a:prstGeom prst="rect">
            <a:avLst/>
          </a:prstGeom>
        </p:spPr>
      </p:pic>
      <p:sp>
        <p:nvSpPr>
          <p:cNvPr id="18" name="Box title pipeline"/>
          <p:cNvSpPr txBox="1"/>
          <p:nvPr/>
        </p:nvSpPr>
        <p:spPr>
          <a:xfrm>
            <a:off x="269748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pipeline</a:t>
            </a:r>
            <a:endParaRPr lang="en-US" sz="1600" dirty="0"/>
          </a:p>
        </p:txBody>
      </p:sp>
      <p:sp>
        <p:nvSpPr>
          <p:cNvPr id="19" name="Box desc pipeline"/>
          <p:cNvSpPr txBox="1"/>
          <p:nvPr/>
        </p:nvSpPr>
        <p:spPr>
          <a:xfrm>
            <a:off x="201168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RAG-агент · планировщик · тональность</a:t>
            </a:r>
            <a:endParaRPr lang="en-US" sz="1400" dirty="0"/>
          </a:p>
        </p:txBody>
      </p:sp>
      <p:sp>
        <p:nvSpPr>
          <p:cNvPr id="20" name="Box ingest"/>
          <p:cNvSpPr/>
          <p:nvPr/>
        </p:nvSpPr>
        <p:spPr>
          <a:xfrm>
            <a:off x="5074920" y="29718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1" name="ingest circle"/>
          <p:cNvSpPr/>
          <p:nvPr/>
        </p:nvSpPr>
        <p:spPr>
          <a:xfrm>
            <a:off x="5257800" y="31546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ngest icon" descr="inge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446" y="3297326"/>
            <a:ext cx="263347" cy="263347"/>
          </a:xfrm>
          <a:prstGeom prst="rect">
            <a:avLst/>
          </a:prstGeom>
        </p:spPr>
      </p:pic>
      <p:sp>
        <p:nvSpPr>
          <p:cNvPr id="23" name="Box title ingest"/>
          <p:cNvSpPr txBox="1"/>
          <p:nvPr/>
        </p:nvSpPr>
        <p:spPr>
          <a:xfrm>
            <a:off x="594360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</a:t>
            </a:r>
            <a:endParaRPr lang="en-US" sz="1600" dirty="0"/>
          </a:p>
        </p:txBody>
      </p:sp>
      <p:sp>
        <p:nvSpPr>
          <p:cNvPr id="24" name="Box desc ingest"/>
          <p:cNvSpPr txBox="1"/>
          <p:nvPr/>
        </p:nvSpPr>
        <p:spPr>
          <a:xfrm>
            <a:off x="525780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OCR → чанки → эмбеддинги</a:t>
            </a:r>
            <a:endParaRPr lang="en-US" sz="1400" dirty="0"/>
          </a:p>
        </p:txBody>
      </p:sp>
      <p:sp>
        <p:nvSpPr>
          <p:cNvPr id="25" name="Lane ИИ и данные"/>
          <p:cNvSpPr txBox="1"/>
          <p:nvPr/>
        </p:nvSpPr>
        <p:spPr>
          <a:xfrm>
            <a:off x="548640" y="45720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ИИ И ДАННЫЕ</a:t>
            </a:r>
            <a:endParaRPr lang="en-US" sz="1200" dirty="0"/>
          </a:p>
        </p:txBody>
      </p:sp>
      <p:sp>
        <p:nvSpPr>
          <p:cNvPr id="26" name="Box llm-gateway → LLM"/>
          <p:cNvSpPr/>
          <p:nvPr/>
        </p:nvSpPr>
        <p:spPr>
          <a:xfrm>
            <a:off x="1828800" y="45720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7" name="llm-gateway → LLM circle"/>
          <p:cNvSpPr/>
          <p:nvPr/>
        </p:nvSpPr>
        <p:spPr>
          <a:xfrm>
            <a:off x="2011680" y="4754880"/>
            <a:ext cx="548640" cy="548640"/>
          </a:xfrm>
          <a:prstGeom prst="ellipse">
            <a:avLst/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</p:spPr>
      </p:sp>
      <p:pic>
        <p:nvPicPr>
          <p:cNvPr id="28" name="llm-gateway → LLM icon" descr="llm-gateway → LL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326" y="4897526"/>
            <a:ext cx="263347" cy="263347"/>
          </a:xfrm>
          <a:prstGeom prst="rect">
            <a:avLst/>
          </a:prstGeom>
        </p:spPr>
      </p:pic>
      <p:sp>
        <p:nvSpPr>
          <p:cNvPr id="29" name="Box title llm-gateway → LLM"/>
          <p:cNvSpPr txBox="1"/>
          <p:nvPr/>
        </p:nvSpPr>
        <p:spPr>
          <a:xfrm>
            <a:off x="269748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llm-gateway → LLM</a:t>
            </a:r>
            <a:endParaRPr lang="en-US" sz="1600" dirty="0"/>
          </a:p>
        </p:txBody>
      </p:sp>
      <p:sp>
        <p:nvSpPr>
          <p:cNvPr id="30" name="Box desc llm-gateway → LLM"/>
          <p:cNvSpPr txBox="1"/>
          <p:nvPr/>
        </p:nvSpPr>
        <p:spPr>
          <a:xfrm>
            <a:off x="2011680" y="5349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Qwen 27B · смена провайдера в .env</a:t>
            </a:r>
            <a:endParaRPr lang="en-US" sz="1400" dirty="0"/>
          </a:p>
        </p:txBody>
      </p:sp>
      <p:sp>
        <p:nvSpPr>
          <p:cNvPr id="31" name="Box Qdrant + PostgreSQL"/>
          <p:cNvSpPr/>
          <p:nvPr/>
        </p:nvSpPr>
        <p:spPr>
          <a:xfrm>
            <a:off x="5074920" y="4572000"/>
            <a:ext cx="3063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32" name="Qdrant + PostgreSQL circle"/>
          <p:cNvSpPr/>
          <p:nvPr/>
        </p:nvSpPr>
        <p:spPr>
          <a:xfrm>
            <a:off x="5257800" y="4754880"/>
            <a:ext cx="548640" cy="548640"/>
          </a:xfrm>
          <a:prstGeom prst="ellipse">
            <a:avLst/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</p:spPr>
      </p:sp>
      <p:pic>
        <p:nvPicPr>
          <p:cNvPr id="33" name="Qdrant + PostgreSQL icon" descr="Qdrant + PostgreSQ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446" y="4897526"/>
            <a:ext cx="263347" cy="263347"/>
          </a:xfrm>
          <a:prstGeom prst="rect">
            <a:avLst/>
          </a:prstGeom>
        </p:spPr>
      </p:pic>
      <p:sp>
        <p:nvSpPr>
          <p:cNvPr id="34" name="Box title Qdrant + PostgreSQL"/>
          <p:cNvSpPr txBox="1"/>
          <p:nvPr/>
        </p:nvSpPr>
        <p:spPr>
          <a:xfrm>
            <a:off x="594360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Qdrant + PostgreSQL</a:t>
            </a:r>
            <a:endParaRPr lang="en-US" sz="1600" dirty="0"/>
          </a:p>
        </p:txBody>
      </p:sp>
      <p:sp>
        <p:nvSpPr>
          <p:cNvPr id="35" name="Box desc Qdrant + PostgreSQL"/>
          <p:cNvSpPr txBox="1"/>
          <p:nvPr/>
        </p:nvSpPr>
        <p:spPr>
          <a:xfrm>
            <a:off x="5257800" y="5349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векторный поиск · данные и аналитика</a:t>
            </a:r>
            <a:endParaRPr lang="en-US" sz="1400" dirty="0"/>
          </a:p>
        </p:txBody>
      </p:sp>
      <p:sp>
        <p:nvSpPr>
          <p:cNvPr id="36" name="Arrow 0"/>
          <p:cNvSpPr/>
          <p:nvPr/>
        </p:nvSpPr>
        <p:spPr>
          <a:xfrm>
            <a:off x="3360420" y="2743200"/>
            <a:ext cx="0" cy="228600"/>
          </a:xfrm>
          <a:prstGeom prst="line">
            <a:avLst/>
          </a:prstGeom>
          <a:noFill/>
          <a:ln w="25400">
            <a:solidFill>
              <a:srgbClr val="5F7384"/>
            </a:solidFill>
            <a:prstDash val="solid"/>
            <a:tailEnd type="triangle"/>
          </a:ln>
        </p:spPr>
      </p:sp>
      <p:sp>
        <p:nvSpPr>
          <p:cNvPr id="37" name="Arrow 0"/>
          <p:cNvSpPr/>
          <p:nvPr/>
        </p:nvSpPr>
        <p:spPr>
          <a:xfrm>
            <a:off x="6606540" y="2743200"/>
            <a:ext cx="0" cy="228600"/>
          </a:xfrm>
          <a:prstGeom prst="line">
            <a:avLst/>
          </a:prstGeom>
          <a:noFill/>
          <a:ln w="25400">
            <a:solidFill>
              <a:srgbClr val="5F7384"/>
            </a:solidFill>
            <a:prstDash val="solid"/>
            <a:tailEnd type="triangle"/>
          </a:ln>
        </p:spPr>
      </p:sp>
      <p:sp>
        <p:nvSpPr>
          <p:cNvPr id="38" name="Arrow 1"/>
          <p:cNvSpPr/>
          <p:nvPr/>
        </p:nvSpPr>
        <p:spPr>
          <a:xfrm>
            <a:off x="3360420" y="4343400"/>
            <a:ext cx="0" cy="228600"/>
          </a:xfrm>
          <a:prstGeom prst="line">
            <a:avLst/>
          </a:prstGeom>
          <a:noFill/>
          <a:ln w="25400">
            <a:solidFill>
              <a:srgbClr val="5F7384"/>
            </a:solidFill>
            <a:prstDash val="solid"/>
            <a:tailEnd type="triangle"/>
          </a:ln>
        </p:spPr>
      </p:sp>
      <p:sp>
        <p:nvSpPr>
          <p:cNvPr id="39" name="Arrow 1"/>
          <p:cNvSpPr/>
          <p:nvPr/>
        </p:nvSpPr>
        <p:spPr>
          <a:xfrm>
            <a:off x="6606540" y="4343400"/>
            <a:ext cx="0" cy="228600"/>
          </a:xfrm>
          <a:prstGeom prst="line">
            <a:avLst/>
          </a:prstGeom>
          <a:noFill/>
          <a:ln w="25400">
            <a:solidFill>
              <a:srgbClr val="5F7384"/>
            </a:solidFill>
            <a:prstDash val="solid"/>
            <a:tailEnd type="triangle"/>
          </a:ln>
        </p:spPr>
      </p:sp>
      <p:sp>
        <p:nvSpPr>
          <p:cNvPr id="40" name="Stat card 21"/>
          <p:cNvSpPr/>
          <p:nvPr/>
        </p:nvSpPr>
        <p:spPr>
          <a:xfrm>
            <a:off x="8915400" y="13716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1" name="Stat 21"/>
          <p:cNvSpPr txBox="1"/>
          <p:nvPr/>
        </p:nvSpPr>
        <p:spPr>
          <a:xfrm>
            <a:off x="9098280" y="13716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42" name="Stat label 21"/>
          <p:cNvSpPr txBox="1"/>
          <p:nvPr/>
        </p:nvSpPr>
        <p:spPr>
          <a:xfrm>
            <a:off x="10149840" y="1371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этап сценария из ТЗ</a:t>
            </a:r>
            <a:endParaRPr lang="en-US" sz="1400" dirty="0"/>
          </a:p>
        </p:txBody>
      </p:sp>
      <p:sp>
        <p:nvSpPr>
          <p:cNvPr id="43" name="Stat card 3"/>
          <p:cNvSpPr/>
          <p:nvPr/>
        </p:nvSpPr>
        <p:spPr>
          <a:xfrm>
            <a:off x="8915400" y="256032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4" name="Stat 3"/>
          <p:cNvSpPr txBox="1"/>
          <p:nvPr/>
        </p:nvSpPr>
        <p:spPr>
          <a:xfrm>
            <a:off x="9098280" y="256032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45" name="Stat label 3"/>
          <p:cNvSpPr txBox="1"/>
          <p:nvPr/>
        </p:nvSpPr>
        <p:spPr>
          <a:xfrm>
            <a:off x="10149840" y="25603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площадки: ГрПП · ГТП · Лужники</a:t>
            </a:r>
            <a:endParaRPr lang="en-US" sz="1400" dirty="0"/>
          </a:p>
        </p:txBody>
      </p:sp>
      <p:sp>
        <p:nvSpPr>
          <p:cNvPr id="46" name="Stat card 6"/>
          <p:cNvSpPr/>
          <p:nvPr/>
        </p:nvSpPr>
        <p:spPr>
          <a:xfrm>
            <a:off x="8915400" y="374904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7" name="Stat 6"/>
          <p:cNvSpPr txBox="1"/>
          <p:nvPr/>
        </p:nvSpPr>
        <p:spPr>
          <a:xfrm>
            <a:off x="9098280" y="374904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48" name="Stat label 6"/>
          <p:cNvSpPr txBox="1"/>
          <p:nvPr/>
        </p:nvSpPr>
        <p:spPr>
          <a:xfrm>
            <a:off x="10149840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сервисов в Docker</a:t>
            </a:r>
            <a:endParaRPr lang="en-US" sz="1400" dirty="0"/>
          </a:p>
        </p:txBody>
      </p:sp>
      <p:sp>
        <p:nvSpPr>
          <p:cNvPr id="49" name="Stat card 340"/>
          <p:cNvSpPr/>
          <p:nvPr/>
        </p:nvSpPr>
        <p:spPr>
          <a:xfrm>
            <a:off x="8915400" y="49377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50" name="Stat 340"/>
          <p:cNvSpPr txBox="1"/>
          <p:nvPr/>
        </p:nvSpPr>
        <p:spPr>
          <a:xfrm>
            <a:off x="9098280" y="493776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4000" dirty="0"/>
          </a:p>
        </p:txBody>
      </p:sp>
      <p:sp>
        <p:nvSpPr>
          <p:cNvPr id="51" name="Stat label 340"/>
          <p:cNvSpPr txBox="1"/>
          <p:nvPr/>
        </p:nvSpPr>
        <p:spPr>
          <a:xfrm>
            <a:off x="10149840" y="49377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автотестов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Новичок в МАКС: кнопки и диалог</a:t>
            </a:r>
            <a:endParaRPr lang="en-US" sz="3600" dirty="0"/>
          </a:p>
        </p:txBody>
      </p:sp>
      <p:sp>
        <p:nvSpPr>
          <p:cNvPr id="3" name="Chat card"/>
          <p:cNvSpPr/>
          <p:nvPr/>
        </p:nvSpPr>
        <p:spPr>
          <a:xfrm>
            <a:off x="548640" y="1371600"/>
            <a:ext cx="493776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pic>
        <p:nvPicPr>
          <p:cNvPr id="4" name="Chat avatar" descr="Аватар Корси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ellipse">
            <a:avLst/>
          </a:prstGeom>
        </p:spPr>
      </p:pic>
      <p:sp>
        <p:nvSpPr>
          <p:cNvPr id="5" name="Chat name"/>
          <p:cNvSpPr txBox="1"/>
          <p:nvPr/>
        </p:nvSpPr>
        <p:spPr>
          <a:xfrm>
            <a:off x="14173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Корсик</a:t>
            </a:r>
            <a:endParaRPr lang="en-US" sz="1600" dirty="0"/>
          </a:p>
        </p:txBody>
      </p:sp>
      <p:sp>
        <p:nvSpPr>
          <p:cNvPr id="6" name="Chat sub"/>
          <p:cNvSpPr txBox="1"/>
          <p:nvPr/>
        </p:nvSpPr>
        <p:spPr>
          <a:xfrm>
            <a:off x="1417320" y="1764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бот в МАКС · пример диалога</a:t>
            </a:r>
            <a:endParaRPr lang="en-US" sz="1200" dirty="0"/>
          </a:p>
        </p:txBody>
      </p:sp>
      <p:sp>
        <p:nvSpPr>
          <p:cNvPr id="7" name="Question 1"/>
          <p:cNvSpPr/>
          <p:nvPr/>
        </p:nvSpPr>
        <p:spPr>
          <a:xfrm>
            <a:off x="1828800" y="2194560"/>
            <a:ext cx="3474720" cy="502920"/>
          </a:xfrm>
          <a:prstGeom prst="roundRect">
            <a:avLst>
              <a:gd name="adj" fmla="val 25455"/>
            </a:avLst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sp>
        <p:nvSpPr>
          <p:cNvPr id="8" name="Question 1 text"/>
          <p:cNvSpPr txBox="1"/>
          <p:nvPr/>
        </p:nvSpPr>
        <p:spPr>
          <a:xfrm>
            <a:off x="196596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Во сколько начинается рабочий день?</a:t>
            </a:r>
            <a:endParaRPr lang="en-US" sz="1400" dirty="0"/>
          </a:p>
        </p:txBody>
      </p:sp>
      <p:sp>
        <p:nvSpPr>
          <p:cNvPr id="9" name="Answer 1"/>
          <p:cNvSpPr/>
          <p:nvPr/>
        </p:nvSpPr>
        <p:spPr>
          <a:xfrm>
            <a:off x="731520" y="2834640"/>
            <a:ext cx="4206240" cy="1188720"/>
          </a:xfrm>
          <a:prstGeom prst="roundRect">
            <a:avLst>
              <a:gd name="adj" fmla="val 1076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0" name="Answer 1 text"/>
          <p:cNvSpPr txBox="1"/>
          <p:nvPr/>
        </p:nvSpPr>
        <p:spPr>
          <a:xfrm>
            <a:off x="8686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Рабочий день начинается в 9:00. В пятницу заканчиваем в 17:00, в остальные дни — в 18:00.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Источник: Правила внутреннего трудового распорядка</a:t>
            </a:r>
            <a:endParaRPr lang="en-US" sz="1400" dirty="0"/>
          </a:p>
        </p:txBody>
      </p:sp>
      <p:sp>
        <p:nvSpPr>
          <p:cNvPr id="11" name="Question 2"/>
          <p:cNvSpPr/>
          <p:nvPr/>
        </p:nvSpPr>
        <p:spPr>
          <a:xfrm>
            <a:off x="2743200" y="4160520"/>
            <a:ext cx="2560320" cy="457200"/>
          </a:xfrm>
          <a:prstGeom prst="roundRect">
            <a:avLst>
              <a:gd name="adj" fmla="val 28000"/>
            </a:avLst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sp>
        <p:nvSpPr>
          <p:cNvPr id="12" name="Question 2 text"/>
          <p:cNvSpPr txBox="1"/>
          <p:nvPr/>
        </p:nvSpPr>
        <p:spPr>
          <a:xfrm>
            <a:off x="28803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Какой пароль от wifi?</a:t>
            </a:r>
            <a:endParaRPr lang="en-US" sz="1400" dirty="0"/>
          </a:p>
        </p:txBody>
      </p:sp>
      <p:sp>
        <p:nvSpPr>
          <p:cNvPr id="13" name="Silence box"/>
          <p:cNvSpPr/>
          <p:nvPr/>
        </p:nvSpPr>
        <p:spPr>
          <a:xfrm>
            <a:off x="731520" y="4754880"/>
            <a:ext cx="420624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5F7384"/>
            </a:solidFill>
            <a:prstDash val="dash"/>
          </a:ln>
        </p:spPr>
      </p:sp>
      <p:sp>
        <p:nvSpPr>
          <p:cNvPr id="14" name="Silence text"/>
          <p:cNvSpPr txBox="1"/>
          <p:nvPr/>
        </p:nvSpPr>
        <p:spPr>
          <a:xfrm>
            <a:off x="73152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Корсик молчит — в чат ничего не приходит</a:t>
            </a:r>
            <a:endParaRPr lang="en-US" sz="1400" dirty="0"/>
          </a:p>
        </p:txBody>
      </p:sp>
      <p:sp>
        <p:nvSpPr>
          <p:cNvPr id="15" name="HR notice"/>
          <p:cNvSpPr/>
          <p:nvPr/>
        </p:nvSpPr>
        <p:spPr>
          <a:xfrm>
            <a:off x="731520" y="5349240"/>
            <a:ext cx="4206240" cy="731520"/>
          </a:xfrm>
          <a:prstGeom prst="roundRect">
            <a:avLst>
              <a:gd name="adj" fmla="val 17500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</p:spPr>
      </p:sp>
      <p:sp>
        <p:nvSpPr>
          <p:cNvPr id="16" name="HR notice text"/>
          <p:cNvSpPr txBox="1"/>
          <p:nvPr/>
        </p:nvSpPr>
        <p:spPr>
          <a:xfrm>
            <a:off x="868680" y="5349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HR в МАКС · 🔔 Новое обращение №12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«Какой пароль от wifi?»   [Ответить]  [Взять в работу]</a:t>
            </a:r>
            <a:endParaRPr lang="en-US" sz="1200" dirty="0"/>
          </a:p>
        </p:txBody>
      </p:sp>
      <p:sp>
        <p:nvSpPr>
          <p:cNvPr id="17" name="Ведёт по таймлайну circle"/>
          <p:cNvSpPr/>
          <p:nvPr/>
        </p:nvSpPr>
        <p:spPr>
          <a:xfrm>
            <a:off x="5943600" y="14173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Ведёт по таймлайну icon" descr="Ведёт по таймлайн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21" y="1583741"/>
            <a:ext cx="307238" cy="307238"/>
          </a:xfrm>
          <a:prstGeom prst="rect">
            <a:avLst/>
          </a:prstGeom>
        </p:spPr>
      </p:pic>
      <p:sp>
        <p:nvSpPr>
          <p:cNvPr id="19" name="Feature 1"/>
          <p:cNvSpPr txBox="1"/>
          <p:nvPr/>
        </p:nvSpPr>
        <p:spPr>
          <a:xfrm>
            <a:off x="68122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Ведёт по таймлайну</a:t>
            </a:r>
            <a:endParaRPr lang="en-US" sz="2000" dirty="0"/>
          </a:p>
        </p:txBody>
      </p:sp>
      <p:sp>
        <p:nvSpPr>
          <p:cNvPr id="20" name="Feature text 1"/>
          <p:cNvSpPr txBox="1"/>
          <p:nvPr/>
        </p:nvSpPr>
        <p:spPr>
          <a:xfrm>
            <a:off x="6812280" y="17556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 этап: от знакомства до конца испытательного срока; площадка, «ты/вы», картинки, опросы с ветвлением</a:t>
            </a:r>
            <a:endParaRPr lang="en-US" sz="1400" dirty="0"/>
          </a:p>
        </p:txBody>
      </p:sp>
      <p:sp>
        <p:nvSpPr>
          <p:cNvPr id="21" name="Отвечает по регламентам circle"/>
          <p:cNvSpPr/>
          <p:nvPr/>
        </p:nvSpPr>
        <p:spPr>
          <a:xfrm>
            <a:off x="5943600" y="26517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Отвечает по регламентам icon" descr="Отвечает по регламента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1" y="2818181"/>
            <a:ext cx="307238" cy="307238"/>
          </a:xfrm>
          <a:prstGeom prst="rect">
            <a:avLst/>
          </a:prstGeom>
        </p:spPr>
      </p:pic>
      <p:sp>
        <p:nvSpPr>
          <p:cNvPr id="23" name="Feature 2"/>
          <p:cNvSpPr txBox="1"/>
          <p:nvPr/>
        </p:nvSpPr>
        <p:spPr>
          <a:xfrm>
            <a:off x="68122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Отвечает по регламентам</a:t>
            </a:r>
            <a:endParaRPr lang="en-US" sz="2000" dirty="0"/>
          </a:p>
        </p:txBody>
      </p:sp>
      <p:sp>
        <p:nvSpPr>
          <p:cNvPr id="24" name="Feature text 2"/>
          <p:cNvSpPr txBox="1"/>
          <p:nvPr/>
        </p:nvSpPr>
        <p:spPr>
          <a:xfrm>
            <a:off x="6812280" y="2990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Свободные вопросы → поиск по базе знаний, ответ с источником. Ничего не выдумывает</a:t>
            </a:r>
            <a:endParaRPr lang="en-US" sz="1400" dirty="0"/>
          </a:p>
        </p:txBody>
      </p:sp>
      <p:sp>
        <p:nvSpPr>
          <p:cNvPr id="25" name="Бесшовно передаёт HR circle"/>
          <p:cNvSpPr/>
          <p:nvPr/>
        </p:nvSpPr>
        <p:spPr>
          <a:xfrm>
            <a:off x="5943600" y="38862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Бесшовно передаёт HR icon" descr="Бесшовно передаёт H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021" y="4052621"/>
            <a:ext cx="307238" cy="307238"/>
          </a:xfrm>
          <a:prstGeom prst="rect">
            <a:avLst/>
          </a:prstGeom>
        </p:spPr>
      </p:pic>
      <p:sp>
        <p:nvSpPr>
          <p:cNvPr id="27" name="Feature 3"/>
          <p:cNvSpPr txBox="1"/>
          <p:nvPr/>
        </p:nvSpPr>
        <p:spPr>
          <a:xfrm>
            <a:off x="68122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Бесшовно передаёт HR</a:t>
            </a:r>
            <a:endParaRPr lang="en-US" sz="2000" dirty="0"/>
          </a:p>
        </p:txBody>
      </p:sp>
      <p:sp>
        <p:nvSpPr>
          <p:cNvPr id="28" name="Feature text 3"/>
          <p:cNvSpPr txBox="1"/>
          <p:nvPr/>
        </p:nvSpPr>
        <p:spPr>
          <a:xfrm>
            <a:off x="6812280" y="4224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Нет ответа в базе — Корсик молчит, HR получает вопрос в МАКС и отвечает кнопкой. Пока HR на связи, бот не вмешивается</a:t>
            </a:r>
            <a:endParaRPr lang="en-US" sz="1400" dirty="0"/>
          </a:p>
        </p:txBody>
      </p:sp>
      <p:sp>
        <p:nvSpPr>
          <p:cNvPr id="29" name="Кнопки + команды «/» circle"/>
          <p:cNvSpPr/>
          <p:nvPr/>
        </p:nvSpPr>
        <p:spPr>
          <a:xfrm>
            <a:off x="5943600" y="5120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Кнопки + команды «/» icon" descr="Кнопки + команды «/»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21" y="5287061"/>
            <a:ext cx="307238" cy="307238"/>
          </a:xfrm>
          <a:prstGeom prst="rect">
            <a:avLst/>
          </a:prstGeom>
        </p:spPr>
      </p:pic>
      <p:sp>
        <p:nvSpPr>
          <p:cNvPr id="31" name="Feature 4"/>
          <p:cNvSpPr txBox="1"/>
          <p:nvPr/>
        </p:nvSpPr>
        <p:spPr>
          <a:xfrm>
            <a:off x="681228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Кнопки + команды «/»</a:t>
            </a:r>
            <a:endParaRPr lang="en-US" sz="2000" dirty="0"/>
          </a:p>
        </p:txBody>
      </p:sp>
      <p:sp>
        <p:nvSpPr>
          <p:cNvPr id="32" name="Feature text 4"/>
          <p:cNvSpPr txBox="1"/>
          <p:nvPr/>
        </p:nvSpPr>
        <p:spPr>
          <a:xfrm>
            <a:off x="681228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/start /hr /food /help и свои команды, которые HR добавляет в панели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Светофор адаптации по сотрудникам</a:t>
            </a:r>
            <a:endParaRPr lang="en-US" sz="3600" dirty="0"/>
          </a:p>
        </p:txBody>
      </p:sp>
      <p:sp>
        <p:nvSpPr>
          <p:cNvPr id="3" name="Screenshot card"/>
          <p:cNvSpPr/>
          <p:nvPr/>
        </p:nvSpPr>
        <p:spPr>
          <a:xfrm>
            <a:off x="548640" y="1371600"/>
            <a:ext cx="489204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pic>
        <p:nvPicPr>
          <p:cNvPr id="4" name="Dashboard screenshot" descr="Скриншот панели: таблица «Статус адаптации новичков» со светофором по каждому сотрудник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709160" cy="4663440"/>
          </a:xfrm>
          <a:prstGeom prst="rect">
            <a:avLst/>
          </a:prstGeom>
        </p:spPr>
      </p:pic>
      <p:sp>
        <p:nvSpPr>
          <p:cNvPr id="5" name="Light card 1"/>
          <p:cNvSpPr/>
          <p:nvPr/>
        </p:nvSpPr>
        <p:spPr>
          <a:xfrm>
            <a:off x="5760720" y="1371600"/>
            <a:ext cx="589788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6" name="Light dot 1"/>
          <p:cNvSpPr/>
          <p:nvPr/>
        </p:nvSpPr>
        <p:spPr>
          <a:xfrm>
            <a:off x="5989320" y="1618488"/>
            <a:ext cx="402336" cy="402336"/>
          </a:xfrm>
          <a:prstGeom prst="ellipse">
            <a:avLst/>
          </a:prstGeom>
          <a:solidFill>
            <a:srgbClr val="D6454B"/>
          </a:solidFill>
          <a:ln w="12700">
            <a:solidFill>
              <a:srgbClr val="D6454B"/>
            </a:solidFill>
            <a:prstDash val="solid"/>
          </a:ln>
        </p:spPr>
      </p:sp>
      <p:sp>
        <p:nvSpPr>
          <p:cNvPr id="7" name="Light title 1"/>
          <p:cNvSpPr txBox="1"/>
          <p:nvPr/>
        </p:nvSpPr>
        <p:spPr>
          <a:xfrm>
            <a:off x="6583680" y="1444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Красный: нужна реакция</a:t>
            </a:r>
            <a:endParaRPr lang="en-US" sz="1800" dirty="0"/>
          </a:p>
        </p:txBody>
      </p:sp>
      <p:sp>
        <p:nvSpPr>
          <p:cNvPr id="8" name="Light text 1"/>
          <p:cNvSpPr txBox="1"/>
          <p:nvPr/>
        </p:nvSpPr>
        <p:spPr>
          <a:xfrm>
            <a:off x="6583680" y="177393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Высокий риск ухода (индекс 50+) или сбой доставки этапа</a:t>
            </a:r>
            <a:endParaRPr lang="en-US" sz="1400" dirty="0"/>
          </a:p>
        </p:txBody>
      </p:sp>
      <p:sp>
        <p:nvSpPr>
          <p:cNvPr id="9" name="Light card 2"/>
          <p:cNvSpPr/>
          <p:nvPr/>
        </p:nvSpPr>
        <p:spPr>
          <a:xfrm>
            <a:off x="5760720" y="2395728"/>
            <a:ext cx="589788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0" name="Light dot 2"/>
          <p:cNvSpPr/>
          <p:nvPr/>
        </p:nvSpPr>
        <p:spPr>
          <a:xfrm>
            <a:off x="5989320" y="2642616"/>
            <a:ext cx="402336" cy="402336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Light title 2"/>
          <p:cNvSpPr txBox="1"/>
          <p:nvPr/>
        </p:nvSpPr>
        <p:spPr>
          <a:xfrm>
            <a:off x="6583680" y="24688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Жёлтый: внимание</a:t>
            </a:r>
            <a:endParaRPr lang="en-US" sz="1800" dirty="0"/>
          </a:p>
        </p:txBody>
      </p:sp>
      <p:sp>
        <p:nvSpPr>
          <p:cNvPr id="12" name="Light text 2"/>
          <p:cNvSpPr txBox="1"/>
          <p:nvPr/>
        </p:nvSpPr>
        <p:spPr>
          <a:xfrm>
            <a:off x="6583680" y="27980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Средний риск, пропущенные этапы, этап ждёт отправки, вопрос без ответа больше суток</a:t>
            </a:r>
            <a:endParaRPr lang="en-US" sz="1400" dirty="0"/>
          </a:p>
        </p:txBody>
      </p:sp>
      <p:sp>
        <p:nvSpPr>
          <p:cNvPr id="13" name="Light card 3"/>
          <p:cNvSpPr/>
          <p:nvPr/>
        </p:nvSpPr>
        <p:spPr>
          <a:xfrm>
            <a:off x="5760720" y="3419856"/>
            <a:ext cx="589788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4" name="Light dot 3"/>
          <p:cNvSpPr/>
          <p:nvPr/>
        </p:nvSpPr>
        <p:spPr>
          <a:xfrm>
            <a:off x="5989320" y="3666744"/>
            <a:ext cx="402336" cy="40233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Light title 3"/>
          <p:cNvSpPr txBox="1"/>
          <p:nvPr/>
        </p:nvSpPr>
        <p:spPr>
          <a:xfrm>
            <a:off x="6583680" y="34930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Зелёный: всё идёт по плану</a:t>
            </a:r>
            <a:endParaRPr lang="en-US" sz="1800" dirty="0"/>
          </a:p>
        </p:txBody>
      </p:sp>
      <p:sp>
        <p:nvSpPr>
          <p:cNvPr id="16" name="Light text 3"/>
          <p:cNvSpPr txBox="1"/>
          <p:nvPr/>
        </p:nvSpPr>
        <p:spPr>
          <a:xfrm>
            <a:off x="6583680" y="382219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Этапы проходят вовремя, тревожных сигналов нет</a:t>
            </a:r>
            <a:endParaRPr lang="en-US" sz="1400" dirty="0"/>
          </a:p>
        </p:txBody>
      </p:sp>
      <p:sp>
        <p:nvSpPr>
          <p:cNvPr id="17" name="Light card 4"/>
          <p:cNvSpPr/>
          <p:nvPr/>
        </p:nvSpPr>
        <p:spPr>
          <a:xfrm>
            <a:off x="5760720" y="4443984"/>
            <a:ext cx="589788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8" name="Light dot 4"/>
          <p:cNvSpPr/>
          <p:nvPr/>
        </p:nvSpPr>
        <p:spPr>
          <a:xfrm>
            <a:off x="5989320" y="4690872"/>
            <a:ext cx="402336" cy="402336"/>
          </a:xfrm>
          <a:prstGeom prst="ellipse">
            <a:avLst/>
          </a:prstGeom>
          <a:solidFill>
            <a:srgbClr val="B4C0C8"/>
          </a:solidFill>
          <a:ln w="12700">
            <a:solidFill>
              <a:srgbClr val="B4C0C8"/>
            </a:solidFill>
            <a:prstDash val="solid"/>
          </a:ln>
        </p:spPr>
      </p:sp>
      <p:sp>
        <p:nvSpPr>
          <p:cNvPr id="19" name="Light title 4"/>
          <p:cNvSpPr txBox="1"/>
          <p:nvPr/>
        </p:nvSpPr>
        <p:spPr>
          <a:xfrm>
            <a:off x="6583680" y="45171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Серый: не подключён</a:t>
            </a:r>
            <a:endParaRPr lang="en-US" sz="1800" dirty="0"/>
          </a:p>
        </p:txBody>
      </p:sp>
      <p:sp>
        <p:nvSpPr>
          <p:cNvPr id="20" name="Light text 4"/>
          <p:cNvSpPr txBox="1"/>
          <p:nvPr/>
        </p:nvSpPr>
        <p:spPr>
          <a:xfrm>
            <a:off x="6583680" y="48463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Новичок ещё не привязан к боту (за день до выхода — жёлтый)</a:t>
            </a:r>
            <a:endParaRPr lang="en-US" sz="1400" dirty="0"/>
          </a:p>
        </p:txBody>
      </p:sp>
      <p:sp>
        <p:nvSpPr>
          <p:cNvPr id="21" name="Light note"/>
          <p:cNvSpPr txBox="1"/>
          <p:nvPr/>
        </p:nvSpPr>
        <p:spPr>
          <a:xfrm>
            <a:off x="5760720" y="55321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Клик по цвету — фильтр; клик по строке — диалог сотрудника. Руководитель подразделения видит только своих. Скриншот на демо-данных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Данные вместо догадок для HR</a:t>
            </a:r>
            <a:endParaRPr lang="en-US" sz="3600" dirty="0"/>
          </a:p>
        </p:txBody>
      </p:sp>
      <p:sp>
        <p:nvSpPr>
          <p:cNvPr id="3" name="Risk chart card"/>
          <p:cNvSpPr/>
          <p:nvPr/>
        </p:nvSpPr>
        <p:spPr>
          <a:xfrm>
            <a:off x="548640" y="1371600"/>
            <a:ext cx="585216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" name="Chart title"/>
          <p:cNvSpPr txBox="1"/>
          <p:nvPr/>
        </p:nvSpPr>
        <p:spPr>
          <a:xfrm>
            <a:off x="822960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Индекс риска ухода 0–100</a:t>
            </a:r>
            <a:endParaRPr lang="en-US" sz="2000" dirty="0"/>
          </a:p>
        </p:txBody>
      </p:sp>
      <p:sp>
        <p:nvSpPr>
          <p:cNvPr id="5" name="Chart subtitle"/>
          <p:cNvSpPr txBox="1"/>
          <p:nvPr/>
        </p:nvSpPr>
        <p:spPr>
          <a:xfrm>
            <a:off x="822960" y="1901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максимальный вклад группы сигналов, баллы</a:t>
            </a:r>
            <a:endParaRPr lang="en-US" sz="1200" dirty="0"/>
          </a:p>
        </p:txBody>
      </p:sp>
      <p:graphicFrame>
        <p:nvGraphicFramePr>
          <p:cNvPr id="6" name="Chart 0" descr="Столбчатая диаграмма вклада сигналов в индекс риска ухода"/>
          <p:cNvGraphicFramePr/>
          <p:nvPr/>
        </p:nvGraphicFramePr>
        <p:xfrm>
          <a:off x="731520" y="219456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vel dot высокий"/>
          <p:cNvSpPr/>
          <p:nvPr/>
        </p:nvSpPr>
        <p:spPr>
          <a:xfrm>
            <a:off x="822960" y="5577840"/>
            <a:ext cx="201168" cy="201168"/>
          </a:xfrm>
          <a:prstGeom prst="ellipse">
            <a:avLst/>
          </a:prstGeom>
          <a:solidFill>
            <a:srgbClr val="D6454B"/>
          </a:solidFill>
          <a:ln w="12700">
            <a:solidFill>
              <a:srgbClr val="D6454B"/>
            </a:solidFill>
            <a:prstDash val="solid"/>
          </a:ln>
        </p:spPr>
      </p:sp>
      <p:sp>
        <p:nvSpPr>
          <p:cNvPr id="8" name="Level высокий"/>
          <p:cNvSpPr txBox="1"/>
          <p:nvPr/>
        </p:nvSpPr>
        <p:spPr>
          <a:xfrm>
            <a:off x="1115568" y="5532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≥ 50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высокий</a:t>
            </a:r>
            <a:endParaRPr lang="en-US" sz="1400" dirty="0"/>
          </a:p>
        </p:txBody>
      </p:sp>
      <p:sp>
        <p:nvSpPr>
          <p:cNvPr id="9" name="Level dot средний"/>
          <p:cNvSpPr/>
          <p:nvPr/>
        </p:nvSpPr>
        <p:spPr>
          <a:xfrm>
            <a:off x="2606040" y="557784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Level средний"/>
          <p:cNvSpPr txBox="1"/>
          <p:nvPr/>
        </p:nvSpPr>
        <p:spPr>
          <a:xfrm>
            <a:off x="2898648" y="5532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≥ 25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средний</a:t>
            </a:r>
            <a:endParaRPr lang="en-US" sz="1400" dirty="0"/>
          </a:p>
        </p:txBody>
      </p:sp>
      <p:sp>
        <p:nvSpPr>
          <p:cNvPr id="11" name="Level dot низкий"/>
          <p:cNvSpPr/>
          <p:nvPr/>
        </p:nvSpPr>
        <p:spPr>
          <a:xfrm>
            <a:off x="4389120" y="5577840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Level низкий"/>
          <p:cNvSpPr txBox="1"/>
          <p:nvPr/>
        </p:nvSpPr>
        <p:spPr>
          <a:xfrm>
            <a:off x="4681728" y="5532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&lt; 25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низкий</a:t>
            </a:r>
            <a:endParaRPr lang="en-US" sz="1400" dirty="0"/>
          </a:p>
        </p:txBody>
      </p:sp>
      <p:sp>
        <p:nvSpPr>
          <p:cNvPr id="13" name="Role card 1"/>
          <p:cNvSpPr/>
          <p:nvPr/>
        </p:nvSpPr>
        <p:spPr>
          <a:xfrm>
            <a:off x="6720840" y="137160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4" name="HR-менеджер circle"/>
          <p:cNvSpPr/>
          <p:nvPr/>
        </p:nvSpPr>
        <p:spPr>
          <a:xfrm>
            <a:off x="6949440" y="160020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HR-менеджер icon" descr="HR-менедже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974" y="1754734"/>
            <a:ext cx="285293" cy="285293"/>
          </a:xfrm>
          <a:prstGeom prst="rect">
            <a:avLst/>
          </a:prstGeom>
        </p:spPr>
      </p:pic>
      <p:sp>
        <p:nvSpPr>
          <p:cNvPr id="16" name="Role 1"/>
          <p:cNvSpPr txBox="1"/>
          <p:nvPr/>
        </p:nvSpPr>
        <p:spPr>
          <a:xfrm>
            <a:off x="772668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HR-менеджер</a:t>
            </a:r>
            <a:endParaRPr lang="en-US" sz="1800" dirty="0"/>
          </a:p>
        </p:txBody>
      </p:sp>
      <p:sp>
        <p:nvSpPr>
          <p:cNvPr id="17" name="Role text 1"/>
          <p:cNvSpPr txBox="1"/>
          <p:nvPr/>
        </p:nvSpPr>
        <p:spPr>
          <a:xfrm>
            <a:off x="7726680" y="19385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Воронка этапов, темы по тегам, красные флаги и обращения. Подключается к диалогу только в нестандартных случаях</a:t>
            </a:r>
            <a:endParaRPr lang="en-US" sz="1400" dirty="0"/>
          </a:p>
        </p:txBody>
      </p:sp>
      <p:sp>
        <p:nvSpPr>
          <p:cNvPr id="18" name="Role card 2"/>
          <p:cNvSpPr/>
          <p:nvPr/>
        </p:nvSpPr>
        <p:spPr>
          <a:xfrm>
            <a:off x="6720840" y="301752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9" name="Руководитель подразделения circle"/>
          <p:cNvSpPr/>
          <p:nvPr/>
        </p:nvSpPr>
        <p:spPr>
          <a:xfrm>
            <a:off x="6949440" y="324612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Руководитель подразделения icon" descr="Руководитель подразделен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74" y="3400654"/>
            <a:ext cx="285293" cy="285293"/>
          </a:xfrm>
          <a:prstGeom prst="rect">
            <a:avLst/>
          </a:prstGeom>
        </p:spPr>
      </p:pic>
      <p:sp>
        <p:nvSpPr>
          <p:cNvPr id="21" name="Role 2"/>
          <p:cNvSpPr txBox="1"/>
          <p:nvPr/>
        </p:nvSpPr>
        <p:spPr>
          <a:xfrm>
            <a:off x="772668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Руководитель подразделения</a:t>
            </a:r>
            <a:endParaRPr lang="en-US" sz="1800" dirty="0"/>
          </a:p>
        </p:txBody>
      </p:sp>
      <p:sp>
        <p:nvSpPr>
          <p:cNvPr id="22" name="Role text 2"/>
          <p:cNvSpPr txBox="1"/>
          <p:nvPr/>
        </p:nvSpPr>
        <p:spPr>
          <a:xfrm>
            <a:off x="7726680" y="3584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Видит только своих новичков. Push о личной встрече: 3-й день, 2 недели, месяц, 2 месяца, конец испытательного срока</a:t>
            </a:r>
            <a:endParaRPr lang="en-US" sz="1400" dirty="0"/>
          </a:p>
        </p:txBody>
      </p:sp>
      <p:sp>
        <p:nvSpPr>
          <p:cNvPr id="23" name="Role card 3"/>
          <p:cNvSpPr/>
          <p:nvPr/>
        </p:nvSpPr>
        <p:spPr>
          <a:xfrm>
            <a:off x="6720840" y="466344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4" name="Руководитель по подбору circle"/>
          <p:cNvSpPr/>
          <p:nvPr/>
        </p:nvSpPr>
        <p:spPr>
          <a:xfrm>
            <a:off x="6949440" y="489204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Руководитель по подбору icon" descr="Руководитель по подбору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974" y="5046574"/>
            <a:ext cx="285293" cy="285293"/>
          </a:xfrm>
          <a:prstGeom prst="rect">
            <a:avLst/>
          </a:prstGeom>
        </p:spPr>
      </p:pic>
      <p:sp>
        <p:nvSpPr>
          <p:cNvPr id="26" name="Role 3"/>
          <p:cNvSpPr txBox="1"/>
          <p:nvPr/>
        </p:nvSpPr>
        <p:spPr>
          <a:xfrm>
            <a:off x="7726680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Руководитель по подбору</a:t>
            </a:r>
            <a:endParaRPr lang="en-US" sz="1800" dirty="0"/>
          </a:p>
        </p:txBody>
      </p:sp>
      <p:sp>
        <p:nvSpPr>
          <p:cNvPr id="27" name="Role text 3"/>
          <p:cNvSpPr txBox="1"/>
          <p:nvPr/>
        </p:nvSpPr>
        <p:spPr>
          <a:xfrm>
            <a:off x="7726680" y="52303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Еженедельный дайджест «Настроения в коллективе новичков»: нейросеть группирует ответы в темы и зоны риска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нового: шесть идей</a:t>
            </a:r>
            <a:endParaRPr lang="en-US" sz="3600" dirty="0"/>
          </a:p>
        </p:txBody>
      </p:sp>
      <p:sp>
        <p:nvSpPr>
          <p:cNvPr id="3" name="Idea card 1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" name="Бесшовная эскалация circle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5" name="Бесшовная эскалация icon" descr="Бесшовная эскалац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754734"/>
            <a:ext cx="285293" cy="285293"/>
          </a:xfrm>
          <a:prstGeom prst="rect">
            <a:avLst/>
          </a:prstGeom>
        </p:spPr>
      </p:pic>
      <p:sp>
        <p:nvSpPr>
          <p:cNvPr id="6" name="Idea 1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Бесшовная эскалация</a:t>
            </a:r>
            <a:endParaRPr lang="en-US" sz="1800" dirty="0"/>
          </a:p>
        </p:txBody>
      </p:sp>
      <p:sp>
        <p:nvSpPr>
          <p:cNvPr id="7" name="Idea text 1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знает ответа — молчит, а вопрос сразу у HR в МАКС; HR отвечает кнопкой, ответ приходит в тот же чат</a:t>
            </a:r>
            <a:endParaRPr lang="en-US" sz="1400" dirty="0"/>
          </a:p>
        </p:txBody>
      </p:sp>
      <p:sp>
        <p:nvSpPr>
          <p:cNvPr id="8" name="Idea card 2"/>
          <p:cNvSpPr/>
          <p:nvPr/>
        </p:nvSpPr>
        <p:spPr>
          <a:xfrm>
            <a:off x="4343400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9" name="Индекс риска ухода circle"/>
          <p:cNvSpPr/>
          <p:nvPr/>
        </p:nvSpPr>
        <p:spPr>
          <a:xfrm>
            <a:off x="4617720" y="160020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Индекс риска ухода icon" descr="Индекс риска уход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254" y="1754734"/>
            <a:ext cx="285293" cy="285293"/>
          </a:xfrm>
          <a:prstGeom prst="rect">
            <a:avLst/>
          </a:prstGeom>
        </p:spPr>
      </p:pic>
      <p:sp>
        <p:nvSpPr>
          <p:cNvPr id="11" name="Idea 2"/>
          <p:cNvSpPr txBox="1"/>
          <p:nvPr/>
        </p:nvSpPr>
        <p:spPr>
          <a:xfrm>
            <a:off x="46177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Индекс риска ухода</a:t>
            </a:r>
            <a:endParaRPr lang="en-US" sz="1800" dirty="0"/>
          </a:p>
        </p:txBody>
      </p:sp>
      <p:sp>
        <p:nvSpPr>
          <p:cNvPr id="12" name="Idea text 2"/>
          <p:cNvSpPr txBox="1"/>
          <p:nvPr/>
        </p:nvSpPr>
        <p:spPr>
          <a:xfrm>
            <a:off x="461772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Оценка 0–100 по ранним сигналам: HR удерживает таланты до увольнения, а не после</a:t>
            </a:r>
            <a:endParaRPr lang="en-US" sz="1400" dirty="0"/>
          </a:p>
        </p:txBody>
      </p:sp>
      <p:sp>
        <p:nvSpPr>
          <p:cNvPr id="13" name="Idea card 3"/>
          <p:cNvSpPr/>
          <p:nvPr/>
        </p:nvSpPr>
        <p:spPr>
          <a:xfrm>
            <a:off x="8138160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4" name="Дайджест с кластерами circle"/>
          <p:cNvSpPr/>
          <p:nvPr/>
        </p:nvSpPr>
        <p:spPr>
          <a:xfrm>
            <a:off x="8412480" y="1600200"/>
            <a:ext cx="594360" cy="59436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15" name="Дайджест с кластерами icon" descr="Дайджест с кластерам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014" y="1754734"/>
            <a:ext cx="285293" cy="285293"/>
          </a:xfrm>
          <a:prstGeom prst="rect">
            <a:avLst/>
          </a:prstGeom>
        </p:spPr>
      </p:pic>
      <p:sp>
        <p:nvSpPr>
          <p:cNvPr id="16" name="Idea 3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Дайджест с кластерами</a:t>
            </a:r>
            <a:endParaRPr lang="en-US" sz="1800" dirty="0"/>
          </a:p>
        </p:txBody>
      </p:sp>
      <p:sp>
        <p:nvSpPr>
          <p:cNvPr id="17" name="Idea text 3"/>
          <p:cNvSpPr txBox="1"/>
          <p:nvPr/>
        </p:nvSpPr>
        <p:spPr>
          <a:xfrm>
            <a:off x="841248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Нейросеть группирует ответы в темы («доступы», «конфликт с наставником») и оценивает риск каждой</a:t>
            </a:r>
            <a:endParaRPr lang="en-US" sz="1400" dirty="0"/>
          </a:p>
        </p:txBody>
      </p:sp>
      <p:sp>
        <p:nvSpPr>
          <p:cNvPr id="18" name="Idea card 4"/>
          <p:cNvSpPr/>
          <p:nvPr/>
        </p:nvSpPr>
        <p:spPr>
          <a:xfrm>
            <a:off x="548640" y="3886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19" name="Голос бренда circle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Голос бренда icon" descr="Голос брен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269334"/>
            <a:ext cx="285293" cy="285293"/>
          </a:xfrm>
          <a:prstGeom prst="rect">
            <a:avLst/>
          </a:prstGeom>
        </p:spPr>
      </p:pic>
      <p:sp>
        <p:nvSpPr>
          <p:cNvPr id="21" name="Idea 4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Голос бренда</a:t>
            </a:r>
            <a:endParaRPr lang="en-US" sz="1800" dirty="0"/>
          </a:p>
        </p:txBody>
      </p:sp>
      <p:sp>
        <p:nvSpPr>
          <p:cNvPr id="22" name="Idea text 4"/>
          <p:cNvSpPr txBox="1"/>
          <p:nvPr/>
        </p:nvSpPr>
        <p:spPr>
          <a:xfrm>
            <a:off x="822960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Персона из регламента ТЗ: тёплый тон, мужской род, «ты/вы» по выбору; пост-фильтры страхуют стиль</a:t>
            </a:r>
            <a:endParaRPr lang="en-US" sz="1400" dirty="0"/>
          </a:p>
        </p:txBody>
      </p:sp>
      <p:sp>
        <p:nvSpPr>
          <p:cNvPr id="23" name="Idea card 5"/>
          <p:cNvSpPr/>
          <p:nvPr/>
        </p:nvSpPr>
        <p:spPr>
          <a:xfrm>
            <a:off x="4343400" y="3886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4" name="No-code для HR circle"/>
          <p:cNvSpPr/>
          <p:nvPr/>
        </p:nvSpPr>
        <p:spPr>
          <a:xfrm>
            <a:off x="4617720" y="4114800"/>
            <a:ext cx="594360" cy="594360"/>
          </a:xfrm>
          <a:prstGeom prst="ellipse">
            <a:avLst/>
          </a:prstGeom>
          <a:solidFill>
            <a:srgbClr val="1170DD"/>
          </a:solidFill>
          <a:ln w="12700">
            <a:solidFill>
              <a:srgbClr val="1170DD"/>
            </a:solidFill>
            <a:prstDash val="solid"/>
          </a:ln>
        </p:spPr>
      </p:sp>
      <p:pic>
        <p:nvPicPr>
          <p:cNvPr id="25" name="No-code для HR icon" descr="No-code для H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4269334"/>
            <a:ext cx="285293" cy="285293"/>
          </a:xfrm>
          <a:prstGeom prst="rect">
            <a:avLst/>
          </a:prstGeom>
        </p:spPr>
      </p:pic>
      <p:sp>
        <p:nvSpPr>
          <p:cNvPr id="26" name="Idea 5"/>
          <p:cNvSpPr txBox="1"/>
          <p:nvPr/>
        </p:nvSpPr>
        <p:spPr>
          <a:xfrm>
            <a:off x="461772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No-code для HR</a:t>
            </a:r>
            <a:endParaRPr lang="en-US" sz="1800" dirty="0"/>
          </a:p>
        </p:txBody>
      </p:sp>
      <p:sp>
        <p:nvSpPr>
          <p:cNvPr id="27" name="Idea text 5"/>
          <p:cNvSpPr txBox="1"/>
          <p:nvPr/>
        </p:nvSpPr>
        <p:spPr>
          <a:xfrm>
            <a:off x="4617720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 сам грузит PDF/PPTX/DOCX, правит этапы и тексты, добавляет площадки и команды бота</a:t>
            </a:r>
            <a:endParaRPr lang="en-US" sz="1400" dirty="0"/>
          </a:p>
        </p:txBody>
      </p:sp>
      <p:sp>
        <p:nvSpPr>
          <p:cNvPr id="28" name="Idea card 6"/>
          <p:cNvSpPr/>
          <p:nvPr/>
        </p:nvSpPr>
        <p:spPr>
          <a:xfrm>
            <a:off x="8138160" y="3886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29" name="Любая модель circle"/>
          <p:cNvSpPr/>
          <p:nvPr/>
        </p:nvSpPr>
        <p:spPr>
          <a:xfrm>
            <a:off x="8412480" y="411480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Любая модель icon" descr="Любая модель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014" y="4269334"/>
            <a:ext cx="285293" cy="285293"/>
          </a:xfrm>
          <a:prstGeom prst="rect">
            <a:avLst/>
          </a:prstGeom>
        </p:spPr>
      </p:pic>
      <p:sp>
        <p:nvSpPr>
          <p:cNvPr id="31" name="Idea 6"/>
          <p:cNvSpPr txBox="1"/>
          <p:nvPr/>
        </p:nvSpPr>
        <p:spPr>
          <a:xfrm>
            <a:off x="84124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Любая модель</a:t>
            </a:r>
            <a:endParaRPr lang="en-US" sz="1800" dirty="0"/>
          </a:p>
        </p:txBody>
      </p:sp>
      <p:sp>
        <p:nvSpPr>
          <p:cNvPr id="32" name="Idea text 6"/>
          <p:cNvSpPr txBox="1"/>
          <p:nvPr/>
        </p:nvSpPr>
        <p:spPr>
          <a:xfrm>
            <a:off x="8412480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Шлюз скрывает провайдера: OpenRouter или собственный сервер — сменой переменной в .env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Внедрение и сравнение подходов</a:t>
            </a:r>
            <a:endParaRPr lang="en-US" sz="3600" dirty="0"/>
          </a:p>
        </p:txBody>
      </p:sp>
      <p:sp>
        <p:nvSpPr>
          <p:cNvPr id="3" name="Rollout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B2B40"/>
          </a:solidFill>
          <a:ln w="12700">
            <a:solidFill>
              <a:srgbClr val="0B2B40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40">
                <a:alpha val="14000"/>
              </a:srgbClr>
            </a:outerShdw>
          </a:effectLst>
        </p:spPr>
      </p:sp>
      <p:sp>
        <p:nvSpPr>
          <p:cNvPr id="4" name="Effect stat"/>
          <p:cNvSpPr txBox="1"/>
          <p:nvPr/>
        </p:nvSpPr>
        <p:spPr>
          <a:xfrm>
            <a:off x="82296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70%</a:t>
            </a:r>
            <a:endParaRPr lang="en-US" sz="5400" dirty="0"/>
          </a:p>
        </p:txBody>
      </p:sp>
      <p:sp>
        <p:nvSpPr>
          <p:cNvPr id="5" name="Effect caption"/>
          <p:cNvSpPr txBox="1"/>
          <p:nvPr/>
        </p:nvSpPr>
        <p:spPr>
          <a:xfrm>
            <a:off x="822960" y="2423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целевой эффект из кейса; в панели считаем, сколько вопросов закрыл бот</a:t>
            </a:r>
            <a:endParaRPr lang="en-US" sz="1400" dirty="0"/>
          </a:p>
        </p:txBody>
      </p:sp>
      <p:sp>
        <p:nvSpPr>
          <p:cNvPr id="6" name="Step circle 1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sp>
        <p:nvSpPr>
          <p:cNvPr id="7" name="Step number 1"/>
          <p:cNvSpPr txBox="1"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tep 1"/>
          <p:cNvSpPr txBox="1"/>
          <p:nvPr/>
        </p:nvSpPr>
        <p:spPr>
          <a:xfrm>
            <a:off x="150876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Поднять стек: docker compose up — регламенты подгружаются сами</a:t>
            </a:r>
            <a:endParaRPr lang="en-US" sz="1400" dirty="0"/>
          </a:p>
        </p:txBody>
      </p:sp>
      <p:sp>
        <p:nvSpPr>
          <p:cNvPr id="9" name="Step circle 2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2"/>
          <p:cNvSpPr txBox="1"/>
          <p:nvPr/>
        </p:nvSpPr>
        <p:spPr>
          <a:xfrm>
            <a:off x="1508760" y="41605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Привязать новичков по ссылке или QR из оффера</a:t>
            </a:r>
            <a:endParaRPr lang="en-US" sz="1400" dirty="0"/>
          </a:p>
        </p:txBody>
      </p:sp>
      <p:sp>
        <p:nvSpPr>
          <p:cNvPr id="12" name="Step circle 3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82296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 3"/>
          <p:cNvSpPr txBox="1"/>
          <p:nvPr/>
        </p:nvSpPr>
        <p:spPr>
          <a:xfrm>
            <a:off x="1508760" y="5120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Новая площадка или этап — в панели, без разработчиков</a:t>
            </a:r>
            <a:endParaRPr lang="en-US" sz="14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371600"/>
          <a:ext cx="71780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280160"/>
                <a:gridCol w="1280160"/>
                <a:gridCol w="12801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Кнопочный бот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Портал / wiki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Общий ИИ-чат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Корсик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6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Понимает вопросы своими словами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выдумывает факты о компании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Ведёт новичка по таймлайну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Видит настроение и риск ухода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правит без разработчиков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45720" marT="0" marB="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C4"/>
                    </a:solidFill>
                  </a:tcPr>
                </a:tc>
              </a:tr>
            </a:tbl>
          </a:graphicData>
        </a:graphic>
      </p:graphicFrame>
      <p:sp>
        <p:nvSpPr>
          <p:cNvPr id="16" name="Table caption"/>
          <p:cNvSpPr txBox="1"/>
          <p:nvPr/>
        </p:nvSpPr>
        <p:spPr>
          <a:xfrm>
            <a:off x="4480560" y="589788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Обобщённое сравнение типовых подходов к онбординг-ботам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640080" y="8229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Корсик берёт на себя рутину — HR остаётся с людьми</a:t>
            </a:r>
            <a:endParaRPr lang="en-US" sz="4000" dirty="0"/>
          </a:p>
        </p:txBody>
      </p:sp>
      <p:sp>
        <p:nvSpPr>
          <p:cNvPr id="3" name="Check 1 circle"/>
          <p:cNvSpPr/>
          <p:nvPr/>
        </p:nvSpPr>
        <p:spPr>
          <a:xfrm>
            <a:off x="640080" y="2926080"/>
            <a:ext cx="420624" cy="420624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pic>
        <p:nvPicPr>
          <p:cNvPr id="4" name="Check 1 icon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3035442"/>
            <a:ext cx="201900" cy="201900"/>
          </a:xfrm>
          <a:prstGeom prst="rect">
            <a:avLst/>
          </a:prstGeom>
        </p:spPr>
      </p:pic>
      <p:sp>
        <p:nvSpPr>
          <p:cNvPr id="5" name="Key 1"/>
          <p:cNvSpPr txBox="1"/>
          <p:nvPr/>
        </p:nvSpPr>
        <p:spPr>
          <a:xfrm>
            <a:off x="1280160" y="292608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Работает в МАКС, а не в Telegram</a:t>
            </a:r>
            <a:endParaRPr lang="en-US" sz="2000" dirty="0"/>
          </a:p>
        </p:txBody>
      </p:sp>
      <p:sp>
        <p:nvSpPr>
          <p:cNvPr id="6" name="Check 2 circle"/>
          <p:cNvSpPr/>
          <p:nvPr/>
        </p:nvSpPr>
        <p:spPr>
          <a:xfrm>
            <a:off x="640080" y="3566160"/>
            <a:ext cx="420624" cy="420624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pic>
        <p:nvPicPr>
          <p:cNvPr id="7" name="Check 2 icon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2" y="3675522"/>
            <a:ext cx="201900" cy="201900"/>
          </a:xfrm>
          <a:prstGeom prst="rect">
            <a:avLst/>
          </a:prstGeom>
        </p:spPr>
      </p:pic>
      <p:sp>
        <p:nvSpPr>
          <p:cNvPr id="8" name="Key 2"/>
          <p:cNvSpPr txBox="1"/>
          <p:nvPr/>
        </p:nvSpPr>
        <p:spPr>
          <a:xfrm>
            <a:off x="1280160" y="356616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Отвечает по регламентам и не выдумывает</a:t>
            </a:r>
            <a:endParaRPr lang="en-US" sz="2000" dirty="0"/>
          </a:p>
        </p:txBody>
      </p:sp>
      <p:sp>
        <p:nvSpPr>
          <p:cNvPr id="9" name="Check 3 circle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pic>
        <p:nvPicPr>
          <p:cNvPr id="10" name="Check 3 icon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" y="4315602"/>
            <a:ext cx="201900" cy="201900"/>
          </a:xfrm>
          <a:prstGeom prst="rect">
            <a:avLst/>
          </a:prstGeom>
        </p:spPr>
      </p:pic>
      <p:sp>
        <p:nvSpPr>
          <p:cNvPr id="11" name="Key 3"/>
          <p:cNvSpPr txBox="1"/>
          <p:nvPr/>
        </p:nvSpPr>
        <p:spPr>
          <a:xfrm>
            <a:off x="1280160" y="420624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Видит риск ухода заранее</a:t>
            </a:r>
            <a:endParaRPr lang="en-US" sz="2000" dirty="0"/>
          </a:p>
        </p:txBody>
      </p:sp>
      <p:sp>
        <p:nvSpPr>
          <p:cNvPr id="12" name="Check 4 circle"/>
          <p:cNvSpPr/>
          <p:nvPr/>
        </p:nvSpPr>
        <p:spPr>
          <a:xfrm>
            <a:off x="640080" y="4846320"/>
            <a:ext cx="420624" cy="420624"/>
          </a:xfrm>
          <a:prstGeom prst="ellipse">
            <a:avLst/>
          </a:prstGeom>
          <a:solidFill>
            <a:srgbClr val="A4C61A"/>
          </a:solidFill>
          <a:ln w="12700">
            <a:solidFill>
              <a:srgbClr val="A4C61A"/>
            </a:solidFill>
            <a:prstDash val="solid"/>
          </a:ln>
        </p:spPr>
      </p:sp>
      <p:pic>
        <p:nvPicPr>
          <p:cNvPr id="13" name="Check 4 icon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4955682"/>
            <a:ext cx="201900" cy="201900"/>
          </a:xfrm>
          <a:prstGeom prst="rect">
            <a:avLst/>
          </a:prstGeom>
        </p:spPr>
      </p:pic>
      <p:sp>
        <p:nvSpPr>
          <p:cNvPr id="14" name="Key 4"/>
          <p:cNvSpPr txBox="1"/>
          <p:nvPr/>
        </p:nvSpPr>
        <p:spPr>
          <a:xfrm>
            <a:off x="1280160" y="484632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Растёт на новые площадки без кода</a:t>
            </a:r>
            <a:endParaRPr lang="en-US" sz="2000" dirty="0"/>
          </a:p>
        </p:txBody>
      </p:sp>
      <p:sp>
        <p:nvSpPr>
          <p:cNvPr id="15" name="Thanks"/>
          <p:cNvSpPr txBox="1"/>
          <p:nvPr/>
        </p:nvSpPr>
        <p:spPr>
          <a:xfrm>
            <a:off x="64008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Спасибо! Готовы к вопросам жюри</a:t>
            </a:r>
            <a:endParaRPr lang="en-US" sz="2400" dirty="0"/>
          </a:p>
        </p:txBody>
      </p:sp>
      <p:pic>
        <p:nvPicPr>
          <p:cNvPr id="16" name="Korsik party" descr="Корсик в праздничном колпаке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9728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orsik Hackathon">
  <a:themeElements>
    <a:clrScheme name="Korsik Hackathon">
      <a:dk1>
        <a:srgbClr val="0A1F33"/>
      </a:dk1>
      <a:lt1>
        <a:srgbClr val="FFFFFF"/>
      </a:lt1>
      <a:dk2>
        <a:srgbClr val="0B2B40"/>
      </a:dk2>
      <a:lt2>
        <a:srgbClr val="EEF4F7"/>
      </a:lt2>
      <a:accent1>
        <a:srgbClr val="A4C61A"/>
      </a:accent1>
      <a:accent2>
        <a:srgbClr val="1170DD"/>
      </a:accent2>
      <a:accent3>
        <a:srgbClr val="0E7C86"/>
      </a:accent3>
      <a:accent4>
        <a:srgbClr val="D6454B"/>
      </a:accent4>
      <a:accent5>
        <a:srgbClr val="B7791F"/>
      </a:accent5>
      <a:accent6>
        <a:srgbClr val="5F7384"/>
      </a:accent6>
      <a:hlink>
        <a:srgbClr val="1170DD"/>
      </a:hlink>
      <a:folHlink>
        <a:srgbClr val="5F7384"/>
      </a:folHlink>
    </a:clrScheme>
    <a:fontScheme name="Korsik Hackath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Корсик — ИИ-ассистент для адаптации новых сотрудников в МАКС</dc:title>
  <dc:subject>PptxGenJS Presentation</dc:subject>
  <dc:creator>Команда Корсик</dc:creator>
  <cp:lastModifiedBy>Команда Корсик</cp:lastModifiedBy>
  <cp:revision>1</cp:revision>
  <dcterms:created xsi:type="dcterms:W3CDTF">2026-10-24T21:21:43Z</dcterms:created>
  <dcterms:modified xsi:type="dcterms:W3CDTF">2026-10-24T21:21:43Z</dcterms:modified>
</cp:coreProperties>
</file>